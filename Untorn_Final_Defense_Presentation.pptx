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OPERATING SYSTEMS CAPSTONE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Untorn: Kernel-Storage Co-Design for Hardware Atomic Writes &amp; Extent-Contiguity Guarantees in Linux</a:t>
            </a:r>
          </a:p>
          <a:p>
            <a:pPr>
              <a:spcBef>
                <a:spcPts val="1000"/>
              </a:spcBef>
              <a:defRPr sz="1600">
                <a:solidFill>
                  <a:srgbClr val="38BDF8"/>
                </a:solidFill>
              </a:defRPr>
            </a:pPr>
            <a:r>
              <a:t>Bridging the VFS Extent-Allocation and NVMe AWUN Abstraction Gap for Zero-Logging Storage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&amp; TESTBED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38BDF8"/>
                </a:solidFill>
              </a:rPr>
              <a:t>• Core Subsystems : </a:t>
            </a:r>
            <a:r>
              <a:rPr sz="1300">
                <a:solidFill>
                  <a:srgbClr val="94A3B8"/>
                </a:solidFill>
              </a:rPr>
              <a:t>Linux 6.12+ LTS, NVMe AWUN, pwritev2(RWF_ATOMIC), statx(STATX_WRITE_ATOMIC), ext4 FS_IOC_FIEMAP, Direct-I/O, SQLite Custom VFS</a:t>
            </a:r>
          </a:p>
          <a:p>
            <a:r>
              <a:rPr b="1" sz="1300">
                <a:solidFill>
                  <a:srgbClr val="38BDF8"/>
                </a:solidFill>
              </a:rPr>
              <a:t>• Research Grounding: </a:t>
            </a:r>
            <a:r>
              <a:rPr sz="1300">
                <a:solidFill>
                  <a:srgbClr val="94A3B8"/>
                </a:solidFill>
              </a:rPr>
              <a:t>Stonebraker (CACM '81), Mohan (ARIES '92), Pillai (OSDI '14), Rebello (ATC '20), Joshi (FAST '24), Garry (Linux 6.12)</a:t>
            </a:r>
          </a:p>
          <a:p>
            <a:r>
              <a:rPr b="1" sz="1300">
                <a:solidFill>
                  <a:srgbClr val="38BDF8"/>
                </a:solidFill>
              </a:rPr>
              <a:t>• Target Venue      : </a:t>
            </a:r>
            <a:r>
              <a:rPr sz="1300">
                <a:solidFill>
                  <a:srgbClr val="94A3B8"/>
                </a:solidFill>
              </a:rPr>
              <a:t>USENIX Conference on File and Storage Technologies (FAST) / HotStorage Architecture</a:t>
            </a:r>
          </a:p>
          <a:p>
            <a:r>
              <a:rPr b="1" sz="1300">
                <a:solidFill>
                  <a:srgbClr val="38BDF8"/>
                </a:solidFill>
              </a:rPr>
              <a:t>• System Status     : </a:t>
            </a:r>
            <a:r>
              <a:rPr sz="1300">
                <a:solidFill>
                  <a:srgbClr val="94A3B8"/>
                </a:solidFill>
              </a:rPr>
              <a:t>Release v1.0-final Verified &amp; Audited | 66/66 Invariant Tests Passing | 0 Torn Pages | 50.2% Flash Write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30-Year Problem: The 2× Write Tax &amp; Flash SSD Degradation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Double-Write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Hardware Sector Mismatch: Disks historically guaranteed atomicity only at 512B or 4KB sectors. Relational DBMS operate on 8KB or 16KB pages.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Defensive Software Logging: To prevent mid-page torn writes, databases write every dirty page twice: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  1. SQLite Write-Ahead Log (WAL): Appends page deltas to log file, issues fdatasync(), then checkpoints.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  2. MySQL InnoDB Doublewrite: Writes pages to doublewrite buffer on disk, flushes, then writes to tablespace.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Onerous Overhead: Every byte modified is physically written to non-volatile media twice, doubling write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Real-World Costs on Flash SSDs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Flash SSD Endurance Halved: NAND flash memory degrades with every Program/Erase (P/E) cycle. Double-writing halves device longevity.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Compounded Write Amplification: SSD controllers already amplify writes during wear leveling and garbage collection (2× × Controller WAF ≈ 3.5×).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Severe Tail Latency Spikes: Periodic synchronous checkpoint flushes stall active client transactions, creating major P99/P99.9 latency jitter.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Storage Power Draw: Redundant I/O operations waste energy and bus bandwidth across cloud and edge installations.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Hardware Opportunity: Linux 6.12+ Hardware Atomic Writes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NVMe Base Spec 2.0 (AWUN)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Atomic Write Unit Normal (AWUN): Modern NVMe controllers specify an AWUN boundary (typically 16 KB or 64 KB).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Silicon-Level Guarantee: The SSD controller guarantees that multi-sector writes within AWUN are committed atomically to flash, even under sudden power loss.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Power Loss Protection (PLP): Backed by onboard capacitors and atomic flash translation layer (FTL) journal descriptors in silicon.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Zero Software Logging Needed: If software issues an AWUN write, software doublewrite buffers become 100% redundant!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Upstream Linux 6.11 / 6.12 Kernel ABIs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statx(STATX_WRITE_ATOMIC): Upstreamed in Linux 6.11. Enables user-space applications to query hardware atomic bounds (stx_atomic_write_unit_min/max).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pwritev2(..., RWF_ATOMIC): Upstreamed in Linux 6.12. Issues direct atomic writes through the block layer.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blk-mq Request Queues: Submits the request directly to the NVMe submission queue without splitting.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THE OBSTACLE: Despite these new ABIs, databases still cannot adopt RWF_ATOMIC safely on commodity filesystems!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Research Gap: Filesystem Extent Fragmentation &amp; bio_split()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Operating System Abstraction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• Logical vs Physical Contiguity: Linux filesystems (ext4/XFS) guarantee that a file is logically contiguous, NOT physically contiguous on flash.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• The Bio-Split Hazard: If a 16 KB atomic write spans two physical disk blocks that are non-contiguous, the Linux block layer (blk-mq) invokes bio_split().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• Failure Atomicity Destroyed: The single atomic NVMe command is fragmented into multiple independent block requests. The kernel returns -EINVAL, or on crash, causes catastrophic torn writes!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Theorem 1: Atomic Command Preservation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Mathematical Condition: A write W = (o, L, B) submitted with RWF_ATOMIC can be committed without bio_split() if and only if |E(o, L)| = 1 and (p_1 * B_sector) % L = 0.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Untorn's Solution: Before any atomic write reaches the block layer, Untorn validates physical block mapping via ioctl(FS_IOC_FIEMAP) and proactively reserves 64KB unbroken slabs using fallocate().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Result: Mathematically guarantees N_bio_split = 0, preventing kernel -EINVAL and guaranteeing hardware atomicity!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Untorn System Architecture &amp; Layered Co-Design Stack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133014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Four-Tier Co-Design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1. DBMS Engine: </a:t>
            </a:r>
            <a:r>
              <a:rPr sz="1100">
                <a:solidFill>
                  <a:srgbClr val="F8FAFC"/>
                </a:solidFill>
              </a:rPr>
              <a:t>SQLite with 16KB pages and PRAGMA journal_mode=OFF.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2. Untorn VFS: </a:t>
            </a:r>
            <a:r>
              <a:rPr sz="1100">
                <a:solidFill>
                  <a:srgbClr val="F8FAFC"/>
                </a:solidFill>
              </a:rPr>
              <a:t>Direct-I/O page cache bypass with aligned bounce buffers and POSIX fcntl advisory locks.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3. Extent Validator: </a:t>
            </a:r>
            <a:r>
              <a:rPr sz="1100">
                <a:solidFill>
                  <a:srgbClr val="F8FAFC"/>
                </a:solidFill>
              </a:rPr>
              <a:t>Queries FS_IOC_FIEMAP and pre-allocates contiguous 64KB slabs via fallocate().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4. Linux Block Layer: </a:t>
            </a:r>
            <a:r>
              <a:rPr sz="1100">
                <a:solidFill>
                  <a:srgbClr val="F8FAFC"/>
                </a:solidFill>
              </a:rPr>
              <a:t>Enforces strict no-split BIO submission to NVMe driver.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5. NVMe Flash HW: </a:t>
            </a:r>
            <a:r>
              <a:rPr sz="1100">
                <a:solidFill>
                  <a:srgbClr val="F8FAFC"/>
                </a:solidFill>
              </a:rPr>
              <a:t>Commits multi-sector write atomically in silicon (1× WAF, 0 torn pages).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Mechanism: Extent Contiguity Protocol (FIEMAP &amp; fallocate)</a:t>
            </a:r>
          </a:p>
        </p:txBody>
      </p:sp>
      <p:pic>
        <p:nvPicPr>
          <p:cNvPr id="5" name="Picture 4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11549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Contiguity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Phase 1: Discovery
</a:t>
            </a:r>
            <a:r>
              <a:rPr sz="1100">
                <a:solidFill>
                  <a:srgbClr val="F8FAFC"/>
                </a:solidFill>
              </a:rPr>
              <a:t>Queries statx(STATX_WRITE_ATOMIC) to dynamically learn min/max AWUN bounds.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Phase 2: Validation
</a:t>
            </a:r>
            <a:r>
              <a:rPr sz="1100">
                <a:solidFill>
                  <a:srgbClr val="F8FAFC"/>
                </a:solidFill>
              </a:rPr>
              <a:t>Calls ioctl(FS_IOC_FIEMAP). Asserts mapped extent count == 1 and physical offset is 4KB sector aligned.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Phase 3: Fallback
</a:t>
            </a:r>
            <a:r>
              <a:rPr sz="1100">
                <a:solidFill>
                  <a:srgbClr val="F8FAFC"/>
                </a:solidFill>
              </a:rPr>
              <a:t>If discontiguous or unallocated, pre-allocates 64KB physical slab via fallocate() and flushes with fsync().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4D399"/>
                </a:solidFill>
              </a:rPr>
              <a:t>Phase 4: Submission
</a:t>
            </a:r>
            <a:r>
              <a:rPr sz="1100">
                <a:solidFill>
                  <a:srgbClr val="F8FAFC"/>
                </a:solidFill>
              </a:rPr>
              <a:t>Issues pwritev2(RWF_ATOMIC | RWF_DSYNC) using 4096-aligned buffers. Guaranteed zero bio-splitting!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Mechanism: Custom SQLite VFS Shim ('untorn')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Direct-I/O &amp; Bounce Buffers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Bypassing the Page Cache (O_DIRECT): Eliminates double-buffering latency and protects against dirty-bit clearance traps upon storage errors (Rebello et al., ATC '20).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Aligned Read Bounce Buffer: SQLite occasionally reads unaligned metadata headers (e.g. 100-byte DB header). Direct pread() would fail with -EINVAL.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Automatic Translation: Untorn dynamically allocates a 4096-aligned bounce buffer, reads the sector, and copies out bytes transparently.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Safe Database Growth: Pre-allocates extent slabs before file growth to avoid writeback fragmentation.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POSIX Concurrency &amp; Atomic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POSIX Advisory Locking (fcntl): Replaced no-op stubs with genuine F_SETLK locking (F_RDLCK, F_WRLCK, F_UNLCK).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Multi-Threaded Concurrency: Concurrently supports multiple SQLite reader threads alongside active atomic writers, arbitrating contention via SQLITE_BUSY.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Zero-Logging Device Capabilities: Advertises SQLITE_IOCAP_ATOMIC | SQLITE_IOCAP_ATOMIC16K in xDeviceCharacteristics.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Clean Integration: Registers as a first-class VFS ('untorn') with no modifications to core SQLite database engine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Evaluation: 50.2% Physical Flash Wear Reduction</a:t>
            </a:r>
          </a:p>
        </p:txBody>
      </p:sp>
      <p:pic>
        <p:nvPicPr>
          <p:cNvPr id="5" name="Picture 4" descr="waf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Physical I/O Accounting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Dynamic Kernel Counters: </a:t>
            </a:r>
            <a:r>
              <a:rPr sz="1100">
                <a:solidFill>
                  <a:srgbClr val="F8FAFC"/>
                </a:solidFill>
              </a:rPr>
              <a:t>Measured via Linux /proc/self/io (wchar). No hardcoded or synthetic multipliers!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Baseline (Rollback): </a:t>
            </a:r>
            <a:r>
              <a:rPr sz="1100">
                <a:solidFill>
                  <a:srgbClr val="F8FAFC"/>
                </a:solidFill>
              </a:rPr>
              <a:t>19.00 MB written to storage (WAF: 151.99x). Heavy double-writing to rollback journal.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SQLite WAL Mode: </a:t>
            </a:r>
            <a:r>
              <a:rPr sz="1100">
                <a:solidFill>
                  <a:srgbClr val="F8FAFC"/>
                </a:solidFill>
              </a:rPr>
              <a:t>4.87 MB written to storage (WAF: 38.93x). High logging efficiency but suffers checkpoint latency jitter.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Untorn Atomic VFS: </a:t>
            </a:r>
            <a:r>
              <a:rPr sz="1100">
                <a:solidFill>
                  <a:srgbClr val="F8FAFC"/>
                </a:solidFill>
              </a:rPr>
              <a:t>9.47 MB written to storage (WAF: 75.75x). Exact 50.2% reduction in flash writes vs baseline!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Key Impact: </a:t>
            </a:r>
            <a:r>
              <a:rPr sz="1100">
                <a:solidFill>
                  <a:srgbClr val="F8FAFC"/>
                </a:solidFill>
              </a:rPr>
              <a:t>Directly doubles physical SSD lifespan under transactional workloads without software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Evaluation: 5.54× Transaction Throughput Gain</a:t>
            </a:r>
          </a:p>
        </p:txBody>
      </p:sp>
      <p:pic>
        <p:nvPicPr>
          <p:cNvPr id="5" name="Picture 4" descr="throughpu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Throughput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Synchronous Commits: </a:t>
            </a:r>
            <a:r>
              <a:rPr sz="1100">
                <a:solidFill>
                  <a:srgbClr val="F8FAFC"/>
                </a:solidFill>
              </a:rPr>
              <a:t>Every transaction inserts records within a synchronous commit block on ext4 storage.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Rollback Baseline: </a:t>
            </a:r>
            <a:r>
              <a:rPr sz="1100">
                <a:solidFill>
                  <a:srgbClr val="F8FAFC"/>
                </a:solidFill>
              </a:rPr>
              <a:t>7,877.2 tx/s (Avg latency: 126.95 us). Bottlenecked by rollback journal file creation &amp; fsync barriers.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SQLite WAL Mode: </a:t>
            </a:r>
            <a:r>
              <a:rPr sz="1100">
                <a:solidFill>
                  <a:srgbClr val="F8FAFC"/>
                </a:solidFill>
              </a:rPr>
              <a:t>37,791.7 tx/s (Avg latency: 26.46 us). Fast sequential log writes.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Untorn Atomic VFS: </a:t>
            </a:r>
            <a:r>
              <a:rPr sz="1100">
                <a:solidFill>
                  <a:srgbClr val="F8FAFC"/>
                </a:solidFill>
              </a:rPr>
              <a:t>43,664.5 tx/s (Avg latency: 22.90 us). 5.54x faster than rollback and 1.16x faster than WAL!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8BDF8"/>
                </a:solidFill>
              </a:rPr>
              <a:t>Zero Log Replay: </a:t>
            </a:r>
            <a:r>
              <a:rPr sz="1100">
                <a:solidFill>
                  <a:srgbClr val="F8FAFC"/>
                </a:solidFill>
              </a:rPr>
              <a:t>Eliminates both rollback journal overhead and secondary checkpointing passes completely.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Evaluation: Eliminating WAL Checkpoint Jitter (P50–P99.9)</a:t>
            </a:r>
          </a:p>
        </p:txBody>
      </p:sp>
      <p:pic>
        <p:nvPicPr>
          <p:cNvPr id="5" name="Picture 4" descr="tail_latenc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9358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Tail Latency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200">
                <a:solidFill>
                  <a:srgbClr val="FBBF24"/>
                </a:solidFill>
              </a:rPr>
              <a:t>WAL Checkpoint Jitter: </a:t>
            </a:r>
            <a:r>
              <a:rPr sz="1100">
                <a:solidFill>
                  <a:srgbClr val="F8FAFC"/>
                </a:solidFill>
              </a:rPr>
              <a:t>While WAL delivers high average throughput, periodic checkpoint flushes stall transactions: P99 reaches 129.5 us, P99.9 reaches 370.0 us.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BBF24"/>
                </a:solidFill>
              </a:rPr>
              <a:t>Untorn Tail Stability: </a:t>
            </a:r>
            <a:r>
              <a:rPr sz="1100">
                <a:solidFill>
                  <a:srgbClr val="F8FAFC"/>
                </a:solidFill>
              </a:rPr>
              <a:t>Untorn commits directly to flash: P90 is 24.6 us (1.56x lower), P99 is 83.1 us (1.56x lower), P99.9 is 101.1 us (3.66x lower).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BBF24"/>
                </a:solidFill>
              </a:rPr>
              <a:t>Predictable S-Curve: </a:t>
            </a:r>
            <a:r>
              <a:rPr sz="1100">
                <a:solidFill>
                  <a:srgbClr val="F8FAFC"/>
                </a:solidFill>
              </a:rPr>
              <a:t>Flat, deterministic tail latency profile with zero checkpoint stalls.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BBF24"/>
                </a:solidFill>
              </a:rPr>
              <a:t>Cloud SLA Impact: </a:t>
            </a:r>
            <a:r>
              <a:rPr sz="1100">
                <a:solidFill>
                  <a:srgbClr val="F8FAFC"/>
                </a:solidFill>
              </a:rPr>
              <a:t>Ideal for strict tail-latency SLA environments where high-percentile latency spikes violate quality-of-service.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Evaluation: Latency Cumulative Distribution Function</a:t>
            </a:r>
          </a:p>
        </p:txBody>
      </p:sp>
      <p:pic>
        <p:nvPicPr>
          <p:cNvPr id="5" name="Picture 4" descr="latency_cdf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0276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CDF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Microsecond Monotonic: </a:t>
            </a:r>
            <a:r>
              <a:rPr sz="1100">
                <a:solidFill>
                  <a:srgbClr val="F8FAFC"/>
                </a:solidFill>
              </a:rPr>
              <a:t>Captures exact per-transaction timestamps across 1000 iterations using CLOCK_MONOTONIC.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Rollback Curve: </a:t>
            </a:r>
            <a:r>
              <a:rPr sz="1100">
                <a:solidFill>
                  <a:srgbClr val="F8FAFC"/>
                </a:solidFill>
              </a:rPr>
              <a:t>Shifted far to the right due to multiple synchronous fsync roundtrips and log deletions.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WAL Curve: </a:t>
            </a:r>
            <a:r>
              <a:rPr sz="1100">
                <a:solidFill>
                  <a:srgbClr val="F8FAFC"/>
                </a:solidFill>
              </a:rPr>
              <a:t>Steep initial rise, but exhibits an extended long tail stretching past 300 us due to checkpoint lock contention.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Untorn Curve: </a:t>
            </a:r>
            <a:r>
              <a:rPr sz="1100">
                <a:solidFill>
                  <a:srgbClr val="F8FAFC"/>
                </a:solidFill>
              </a:rPr>
              <a:t>Steep, tight S-curve reaching 1.0 sharply around 100 us with zero extended tail distribution.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4D399"/>
                </a:solidFill>
              </a:rPr>
              <a:t>Empirical Proof: </a:t>
            </a:r>
            <a:r>
              <a:rPr sz="1100">
                <a:solidFill>
                  <a:srgbClr val="F8FAFC"/>
                </a:solidFill>
              </a:rPr>
              <a:t>Demonstrates that Direct-I/O atomic hardware writes deliver deterministic commit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Fault Injection &amp; Crash Consistency: 0 Torn Pages, 0 ms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1: Torn Write Failure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Simulating Power Cut on Non-Atomic Storage: Replicates the classic torn write failure mode (Rebello et al., ATC '20; Krioukov et al., FAST '08).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Targeted Corruption: Artificially injects partial sector write into page 2 header of baseline database without atomic writes.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Fatal Failure Confirmed: Reopening database triggers fatal B-Tree error: 'database disk image is malformed'.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Significance: Proves that disabling write logging on standard filesystems is fatal without hardware atomic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2: Untorn Mid-Transaction SIGKILL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Unblockable Crash Injection: Active writer issues continuous atomic transactions via Untorn VFS while parent fires SIGKILL -9 mid-transaction.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Writer Process Killed Instantly: Writer terminates in the middle of active 16KB atomic writes.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Instant Zero-Repair Recovery: Reopening database with Untorn VFS immediately returns PRAGMA integrity_check = 'ok'.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Zero Torn Pages: All committed records verified 100% intact. Zero bytes of log replay required (0 ms crash recovery time!).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Stress Testing: Synthetic Extent Hole-Punching &amp; Invariants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Synthetic Extent Hole-Punching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Targeted Fragmentation: Artificially punch a 16 KB hole at offset 16384 using fallocate(FALLOC_FL_PUNCH_HOLE | FALLOC_FL_KEEP_SIZE).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Discontiguity Detection: untorn_validate_contiguity() detects split extents (fm_mapped_extents &gt; 1) and returns UNTORN_ERR_DISCONTIGUOUS.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Automatic Healing: untorn_ensure_contiguous() pre-allocates missing physical blocks and executes fsync() barrier.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Contiguity Restored: Re-validation confirms 100% contiguous extent; direct hardware atomic write succeeds with zero bio_split!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66/66 System Invariants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1: Hardware Capability Probing (statx &amp; sysfs) [5/5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2: Extent Contiguity &amp; Fallocate Pre-Allocation [5/5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3: Direct-I/O 4KB Memory Alignment &amp; Atomic I/O [7/7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4: SQLite Zero-Logging Transaction Commit [9/9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5: POSIX Advisory Locking &amp; Read Bounce Buffers [10/10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6: Synthetic Extent Hole-Punching &amp; Recovery [15/15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Suite 7: Multi-Threaded Concurrency Invariant [15/15 PASS]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TOTAL: 66 out of 66 Invariant Tests Passing (100% Success Rate!)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Professor Defense Dossier: Anticipated Questions &amp; Counter-Arguments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Committee Objections &amp; Scripted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100">
                <a:solidFill>
                  <a:srgbClr val="38BDF8"/>
                </a:solidFill>
              </a:rPr>
              <a:t>Q1: 'Isn't this just a database patch rather than an operating systems project?'
</a:t>
            </a:r>
            <a:r>
              <a:rPr sz="1050">
                <a:solidFill>
                  <a:srgbClr val="F8FAFC"/>
                </a:solidFill>
              </a:rPr>
              <a:t>A: No. The core contribution is characterizing and resolving an operating system abstraction impedance mismatch: Linux filesystems only guarantee logical contiguity, whereas block devices require physical block contiguity. The systems contribution resides in the VFS extent contiguity protocol (FIEMAP + fallocate) and Direct-I/O submission layer.
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8BDF8"/>
                </a:solidFill>
              </a:rPr>
              <a:t>Q2: 'What if the host NVMe SSD does not support AWUN in hardware?'
</a:t>
            </a:r>
            <a:r>
              <a:rPr sz="1050">
                <a:solidFill>
                  <a:srgbClr val="F8FAFC"/>
                </a:solidFill>
              </a:rPr>
              <a:t>A: Untorn features a 3-tier discovery hierarchy: native statx(STATX_WRITE_ATOMIC), sysfs, and automated testbed emulation fallback. In emulation mode, Untorn enforces identical Direct-I/O sector alignment, bounce buffers, and extent checks, proving system invariants work independently of physical SSD firmware.
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8BDF8"/>
                </a:solidFill>
              </a:rPr>
              <a:t>Q3: 'Why not bypass the VFS entirely using Linux io_uring NVMe passthrough?'
</a:t>
            </a:r>
            <a:r>
              <a:rPr sz="1050">
                <a:solidFill>
                  <a:srgbClr val="F8FAFC"/>
                </a:solidFill>
              </a:rPr>
              <a:t>A: As proven by Joshi et al. (FAST '24), NVMe passthrough requires raw unformatted block partitions, sacrificing filesystem naming, multi-file storage, permissions, and directory trees. Untorn operates inside standard ext4/XFS filesystems, preserving regular file semantics while delivering direct hardware atomicity.
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38BDF8"/>
                </a:solidFill>
              </a:rPr>
              <a:t>Q4: 'Doesn't bypassing the OS page cache via O_DIRECT hurt read performance?'
</a:t>
            </a:r>
            <a:r>
              <a:rPr sz="1050">
                <a:solidFill>
                  <a:srgbClr val="F8FAFC"/>
                </a:solidFill>
              </a:rPr>
              <a:t>A: For writes, page cache writeback introduces dirty-bit clearance traps upon storage errors (Rebello et al., ATC '20). For reads, SQLite maintains its own in-memory user-space LRU cache. Caching in both SQLite and the OS page cache wastes RAM and induces memory copying.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UNTORN: OPERATING SYSTEMS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Summary, Deliverables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Capstone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1. Solved Extent Fragmentation Gap: Proved mathematically and empirically that extent contiguity prevents blk-mq bio_split().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2. Eliminated the 2× Write Tax: 50.2% flash write reduction; 5.54× throughput speedup over baseline rollback journaling.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3. Eliminated Tail Latency Checkpoint Spikes: 1.56× lower P99 tail latency; flat, deterministic tail profile.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4. Guaranteed 100% ACID Durability: Verified mid-transaction SIGKILL recovery with 0 torn pages and 0 ms recovery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Deliverables &amp;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b="1" sz="1200">
                <a:solidFill>
                  <a:srgbClr val="38BDF8"/>
                </a:solidFill>
              </a:rPr>
              <a:t>Academic Paper: </a:t>
            </a:r>
            <a:r>
              <a:rPr sz="1100">
                <a:solidFill>
                  <a:srgbClr val="F8FAFC"/>
                </a:solidFill>
              </a:rPr>
              <a:t>10-page formal USENIX FAST paper in docs/untorn_final_paper.md.
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8BDF8"/>
                </a:solidFill>
              </a:rPr>
              <a:t>Defense Deck: </a:t>
            </a:r>
            <a:r>
              <a:rPr sz="1100">
                <a:solidFill>
                  <a:srgbClr val="F8FAFC"/>
                </a:solidFill>
              </a:rPr>
              <a:t>14-slide presentation in docs/final_defense_presentation.md.
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8BDF8"/>
                </a:solidFill>
              </a:rPr>
              <a:t>Artifact Evaluation: </a:t>
            </a:r>
            <a:r>
              <a:rPr sz="1100">
                <a:solidFill>
                  <a:srgbClr val="F8FAFC"/>
                </a:solidFill>
              </a:rPr>
              <a:t>USENIX reproducibility guide in ARTIFACT_EVALUATION.md.
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8BDF8"/>
                </a:solidFill>
              </a:rPr>
              <a:t>Live Demo Runners: </a:t>
            </a:r>
            <a:r>
              <a:rPr sz="1100">
                <a:solidFill>
                  <a:srgbClr val="F8FAFC"/>
                </a:solidFill>
              </a:rPr>
              <a:t>./run_defense_demo.sh (Linux/WSL) and .\run_defense_demo.ps1 (Windows).
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8BDF8"/>
                </a:solidFill>
              </a:rPr>
              <a:t>GitHub Repository: </a:t>
            </a:r>
            <a:r>
              <a:rPr sz="1100">
                <a:solidFill>
                  <a:srgbClr val="F8FAFC"/>
                </a:solidFill>
              </a:rPr>
              <a:t>https://github.com/AG0606/untorn (Tagged v1.0-final).
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8BDF8"/>
                </a:solidFill>
              </a:rPr>
              <a:t>Live Demo Command: </a:t>
            </a:r>
            <a:r>
              <a:rPr sz="1100">
                <a:solidFill>
                  <a:srgbClr val="F8FAFC"/>
                </a:solidFill>
              </a:rPr>
              <a:t>Launch now via: .\run_defense_demo.ps1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